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277590"/>
            <a:ext cx="10566400" cy="476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36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277590"/>
            <a:ext cx="10566400" cy="476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100" kern="0" dirty="0">
                <a:solidFill>
                  <a:srgbClr val="F2A6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ECO346 · DATA VISUALIZATION · ASSIGNMENT 1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17812"/>
            <a:ext cx="10883392" cy="1198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Education Spending &amp; Literacy in Rural Punjab (PSLM 2019–20)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76046" y="4967635"/>
            <a:ext cx="10812526" cy="899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754" indent="-190754">
              <a:lnSpc>
                <a:spcPts val="2295"/>
              </a:lnSpc>
              <a:buSzPct val="100000"/>
              <a:buChar char="•"/>
            </a:pPr>
            <a:r>
              <a:rPr lang="en-US" sz="1700" b="1" dirty="0">
                <a:solidFill>
                  <a:srgbClr val="F2A6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Student:</a:t>
            </a:r>
            <a:r>
              <a:rPr lang="en-US" sz="1700" dirty="0">
                <a:solidFill>
                  <a:srgbClr val="F6F3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Fatima Babar Murtaza (FA24-BEDS-024, Section B)</a:t>
            </a:r>
            <a:endParaRPr lang="en-US" sz="1700" dirty="0"/>
          </a:p>
          <a:p>
            <a:pPr algn="l" marL="190754" indent="-190754">
              <a:lnSpc>
                <a:spcPts val="2295"/>
              </a:lnSpc>
              <a:buSzPct val="100000"/>
              <a:buChar char="•"/>
            </a:pPr>
            <a:r>
              <a:rPr lang="en-US" sz="1700" b="1" dirty="0">
                <a:solidFill>
                  <a:srgbClr val="F2A6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Assigned Variant:</a:t>
            </a:r>
            <a:r>
              <a:rPr lang="en-US" sz="1700" dirty="0">
                <a:solidFill>
                  <a:srgbClr val="F6F3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Variant 0 — Punjab Rural (24 = 3 × 8 + 0)</a:t>
            </a:r>
            <a:endParaRPr lang="en-US" sz="1700" dirty="0"/>
          </a:p>
          <a:p>
            <a:pPr algn="l" marL="190754" indent="-190754">
              <a:lnSpc>
                <a:spcPts val="2295"/>
              </a:lnSpc>
              <a:buSzPct val="100000"/>
              <a:buChar char="•"/>
            </a:pPr>
            <a:r>
              <a:rPr lang="en-US" sz="1700" b="1" dirty="0">
                <a:solidFill>
                  <a:srgbClr val="F2A6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Sample:</a:t>
            </a:r>
            <a:r>
              <a:rPr lang="en-US" sz="1700" dirty="0">
                <a:solidFill>
                  <a:srgbClr val="F6F3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9,173 students (ed_total &gt; 0) for education spending; 24,630 persons aged 10–64 for literacy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Makeover: Default vs. Redesign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15975" y="1153765"/>
            <a:ext cx="5200650" cy="280035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pic>
        <p:nvPicPr>
          <p:cNvPr id="4" name="Image 0" descr="Default plot: literacy (0/1) against age with 24,630 overplotted binary points">    </p:cNvPr>
          <p:cNvPicPr>
            <a:picLocks noChangeAspect="1"/>
          </p:cNvPicPr>
          <p:nvPr/>
        </p:nvPicPr>
        <p:blipFill>
          <a:blip r:embed="rId1"/>
          <a:srcRect l="-17953" r="-17953" t="0" b="0"/>
          <a:stretch/>
        </p:blipFill>
        <p:spPr>
          <a:xfrm>
            <a:off x="920750" y="1258540"/>
            <a:ext cx="4927600" cy="2590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5375" y="1153765"/>
            <a:ext cx="5200650" cy="280035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pic>
        <p:nvPicPr>
          <p:cNvPr id="6" name="Image 1" descr="Redesigned plot: weighted 5-year literacy rates for men and women by age group, with direct labels">    </p:cNvPr>
          <p:cNvPicPr>
            <a:picLocks noChangeAspect="1"/>
          </p:cNvPicPr>
          <p:nvPr/>
        </p:nvPicPr>
        <p:blipFill>
          <a:blip r:embed="rId2"/>
          <a:srcRect l="-8150" r="-8150" t="0" b="0"/>
          <a:stretch/>
        </p:blipFill>
        <p:spPr>
          <a:xfrm>
            <a:off x="6280150" y="1258540"/>
            <a:ext cx="4927600" cy="2590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15975" y="4138265"/>
            <a:ext cx="3414167" cy="1395661"/>
          </a:xfrm>
          <a:prstGeom prst="roundRect">
            <a:avLst>
              <a:gd name="adj" fmla="val 7052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22350" y="4344640"/>
            <a:ext cx="32046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Overplotting → Conditional Means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22350" y="4634161"/>
            <a:ext cx="3091459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Replaces 24,630 stacked binary (0/1) points with 5-year weighted literacy rates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88892" y="4138265"/>
            <a:ext cx="3414216" cy="1395661"/>
          </a:xfrm>
          <a:prstGeom prst="roundRect">
            <a:avLst>
              <a:gd name="adj" fmla="val 7052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95267" y="4344640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Perceptual Channels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95267" y="4634161"/>
            <a:ext cx="309151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Uses vertical position on a common scale + color-coded trajectories for Men and Women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961858" y="4138265"/>
            <a:ext cx="3414167" cy="1395661"/>
          </a:xfrm>
          <a:prstGeom prst="roundRect">
            <a:avLst>
              <a:gd name="adj" fmla="val 7052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68233" y="4344640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Data-Ink &amp; Direct Labeling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168233" y="4634161"/>
            <a:ext cx="3091459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Removes legend in favor of direct end-of-series labels and annotates the maximum gap (35.8 pp at ages 55–59)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Most Important Finding: Generational Convergence in Female Literacy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15975" y="1542355"/>
            <a:ext cx="5594350" cy="405765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pic>
        <p:nvPicPr>
          <p:cNvPr id="4" name="Image 0" descr="Weighted literacy rate by 5-year age group for men and women in rural Punjab">    </p:cNvPr>
          <p:cNvPicPr>
            <a:picLocks noChangeAspect="1"/>
          </p:cNvPicPr>
          <p:nvPr/>
        </p:nvPicPr>
        <p:blipFill>
          <a:blip r:embed="rId1"/>
          <a:srcRect l="0" r="0" t="-8438" b="-8438"/>
          <a:stretch/>
        </p:blipFill>
        <p:spPr>
          <a:xfrm>
            <a:off x="920750" y="1647130"/>
            <a:ext cx="5384800" cy="3848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0675" y="1542355"/>
            <a:ext cx="4705350" cy="124668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77050" y="1748730"/>
            <a:ext cx="44213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Sharp Cohort Improvement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77050" y="2038251"/>
            <a:ext cx="442137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Female literacy in rural Punjab nearly quintuples from 15.0% (ages 55–59) to 73.1% (ages 15–19)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70675" y="2947789"/>
            <a:ext cx="4705350" cy="1246733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77050" y="3154164"/>
            <a:ext cx="44213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Narrowing Gender Gap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77050" y="3443684"/>
            <a:ext cx="442137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male–female literacy gap drops from 35.8 pp (ages 55–59) to 6.7 pp (ages 15–19) and 5.9 pp (ages 10–14)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70675" y="4353272"/>
            <a:ext cx="4705350" cy="1246733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77050" y="4559647"/>
            <a:ext cx="44213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Caveat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77050" y="4849168"/>
            <a:ext cx="442137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cross-section cannot separate cohort schooling expansion from life-cycle aging effects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5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Inequality in Rural Education Spending &amp; Python Replication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15975" y="1139825"/>
            <a:ext cx="5200650" cy="280035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pic>
        <p:nvPicPr>
          <p:cNvPr id="4" name="Image 0" descr="Distribution of annual education spending per student in rural Punjab">    </p:cNvPr>
          <p:cNvPicPr>
            <a:picLocks noChangeAspect="1"/>
          </p:cNvPicPr>
          <p:nvPr/>
        </p:nvPicPr>
        <p:blipFill>
          <a:blip r:embed="rId1"/>
          <a:srcRect l="-9436" r="-9436" t="0" b="0"/>
          <a:stretch/>
        </p:blipFill>
        <p:spPr>
          <a:xfrm>
            <a:off x="920750" y="1244600"/>
            <a:ext cx="4927600" cy="2590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5375" y="1139825"/>
            <a:ext cx="5200650" cy="280035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pic>
        <p:nvPicPr>
          <p:cNvPr id="6" name="Image 1" descr="Python (pandas/matplotlib) replication of the literacy by age plot for men and women">    </p:cNvPr>
          <p:cNvPicPr>
            <a:picLocks noChangeAspect="1"/>
          </p:cNvPicPr>
          <p:nvPr/>
        </p:nvPicPr>
        <p:blipFill>
          <a:blip r:embed="rId2"/>
          <a:srcRect l="-8150" r="-8150" t="0" b="0"/>
          <a:stretch/>
        </p:blipFill>
        <p:spPr>
          <a:xfrm>
            <a:off x="6280150" y="1244600"/>
            <a:ext cx="4927600" cy="2590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15975" y="4124325"/>
            <a:ext cx="3414167" cy="1395661"/>
          </a:xfrm>
          <a:prstGeom prst="roundRect">
            <a:avLst>
              <a:gd name="adj" fmla="val 7052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22350" y="4330700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Right-Skewed Spending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22350" y="4620220"/>
            <a:ext cx="3091459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Weighted median is Rs 6,600 (unweighted Rs 7,000), while the 90th percentile reaches Rs 30,000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88892" y="4124325"/>
            <a:ext cx="3414216" cy="1395661"/>
          </a:xfrm>
          <a:prstGeom prst="roundRect">
            <a:avLst>
              <a:gd name="adj" fmla="val 7052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95267" y="4330700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15x Top-to-Bottom Decile Ratio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95267" y="4620220"/>
            <a:ext cx="30915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90th percentile (Rs 30,000) is 15.00 times the 10th percentile (Rs 2,000)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961858" y="4124325"/>
            <a:ext cx="3414167" cy="1395661"/>
          </a:xfrm>
          <a:prstGeom prst="roundRect">
            <a:avLst>
              <a:gd name="adj" fmla="val 7052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68233" y="4330700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F5F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Cross-Language Verification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168233" y="4620220"/>
            <a:ext cx="3091459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 (pandas/matplotlib) matches R's weighted band table to one decimal place (73.1% for women aged 15–19)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24-BEDS-024">
  <a:themeElements>
    <a:clrScheme name="FA24-BEDS-024">
      <a:dk1>
        <a:srgbClr val="1B2430"/>
      </a:dk1>
      <a:lt1>
        <a:srgbClr val="F6F3EC"/>
      </a:lt1>
      <a:dk2>
        <a:srgbClr val="52585F"/>
      </a:dk2>
      <a:lt2>
        <a:srgbClr val="E0DED9"/>
      </a:lt2>
      <a:accent1>
        <a:srgbClr val="1F5FA0"/>
      </a:accent1>
      <a:accent2>
        <a:srgbClr val="F2A65A"/>
      </a:accent2>
      <a:accent3>
        <a:srgbClr val="9AA0A6"/>
      </a:accent3>
      <a:accent4>
        <a:srgbClr val="73777B"/>
      </a:accent4>
      <a:accent5>
        <a:srgbClr val="939697"/>
      </a:accent5>
      <a:accent6>
        <a:srgbClr val="B4B5B4"/>
      </a:accent6>
      <a:hlink>
        <a:srgbClr val="0563C1"/>
      </a:hlink>
      <a:folHlink>
        <a:srgbClr val="954F72"/>
      </a:folHlink>
    </a:clrScheme>
    <a:fontScheme name="FA24-BEDS-024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FA24-BEDS-024</dc:title>
  <dc:subject/>
  <dc:creator/>
  <cp:lastModifiedBy/>
  <cp:revision>1</cp:revision>
  <dcterms:created xsi:type="dcterms:W3CDTF">2026-10-23T20:17:28Z</dcterms:created>
  <dcterms:modified xsi:type="dcterms:W3CDTF">2026-10-23T20:17:28Z</dcterms:modified>
</cp:coreProperties>
</file>